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65" r:id="rId15"/>
    <p:sldId id="266" r:id="rId16"/>
    <p:sldId id="271" r:id="rId17"/>
    <p:sldId id="272" r:id="rId18"/>
    <p:sldId id="275" r:id="rId19"/>
    <p:sldId id="276" r:id="rId20"/>
    <p:sldId id="279" r:id="rId21"/>
    <p:sldId id="280" r:id="rId22"/>
    <p:sldId id="281" r:id="rId23"/>
    <p:sldId id="282" r:id="rId24"/>
    <p:sldId id="283" r:id="rId25"/>
    <p:sldId id="284" r:id="rId26"/>
    <p:sldId id="277" r:id="rId27"/>
    <p:sldId id="278" r:id="rId28"/>
    <p:sldId id="285" r:id="rId29"/>
    <p:sldId id="273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7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DCF8-9AE2-085E-9307-029DCE6B5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EF01E-2332-C222-5CD6-1482671ED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B9C61-9B1E-1B60-6587-E95B09EC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2A9BE-3711-6C5C-1E62-765939CE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3489-801F-9788-D656-814A43C7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05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5AEF-B56E-FC85-9CAA-D11C5810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00E94-90D1-29E3-C8D4-4003A2D3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30015-85EC-5DD9-D5AA-B6D5E367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1F1D-FC9A-0C24-1549-0384113F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3189-8A43-0FF9-C651-70C0BEA1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32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B7FD-AE93-B554-7E4C-5269F1E7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E22E-292D-5509-1573-991FAA647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744C-C9C9-D959-2544-9139E21B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03EC1-E0E0-66D2-D2E1-DCCFEF7A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42CA-BEC5-AD0D-6F30-04F6381E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66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5CC5-F452-A039-3BE6-6BB66855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C27E2-9315-353F-75EC-C8CA30D20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27D7-340A-F4AA-3F05-FE94FDF4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19869-2380-3D2C-855C-76E58552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98CE9-87FE-8E91-14FE-3685BF99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55B9B-429D-1B5F-D4DE-1B012126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6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F00D-5986-58C3-92C8-06928D8A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BD15C-4DAE-3639-B298-7F1090CC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3F2DE-F3DE-EEB0-A01B-2AD18AE6D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E56D0-F49C-8FB8-9748-0EA6FCE24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C76B4-0E4E-1A26-9B78-2E98AD83C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DDD14-DA5C-93B8-0D7D-1DE9A35C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63322-14A5-A7BF-6DE2-EC12A39E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9A932-23F5-D085-FECA-62DFB9A2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2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FE88-D930-9AF3-68B3-AA2862DD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1F11B-1EB1-F332-ADA1-09797807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41807-EC00-64B8-67B0-64AB5D88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0EF88-2A15-AD1C-7B01-8162B428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34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94D5E-B3A2-A7B0-04B3-CF1E0F61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3EDED9-94C3-08FA-C74A-8D759DA7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AF758-5CD6-2E45-C961-EBC31923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3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E98A-ADC5-4D93-DA14-7AEF8132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3775-A0AE-0FCC-3C36-C90F61F2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02D33-BA8D-42F9-388E-37362F9C7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B52B6-8E63-36F8-4412-B3E47F3C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07000-D68B-C059-83A5-798DB746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68283-7C4F-E75B-6EFE-1D1D5E62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8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D3BE-8CE8-2EF4-029C-B9819FC4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B908DC-5BDF-5EF0-0978-90C48D072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18431-CABF-FA71-A3DB-644821D7D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5DCBE-59A8-3B2B-E727-A82ED2D9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28CE3-4D2F-4FD8-6D9A-9097C41F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89A76-30E1-1FE8-BF14-AEAB7E8F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88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F262-40E7-FDDD-EF0B-11ACC46E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27BC5-36E3-26A4-7605-71641D121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75B1E-E7DD-9293-8B82-2F3133C4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6382E-2F6D-36D4-40BA-C6A75809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59CF9-5F2A-0699-C970-873C077B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88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F032A-D776-EEBF-F1A9-935865197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39DF9-15D7-4852-0978-506CED9E6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D865-042F-3901-BE27-6216DDD3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C67A-97C5-66F1-CDDD-1F2914DC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277D6-C96E-5A1E-01A2-2FB13CC9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4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2229B-C6B4-7D4E-2490-48B19F8E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3EDCB-F615-748D-8902-8DF270C7F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7E14C-7411-E00F-22E7-DA6696427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029DE-D883-4930-8330-5C6BD27B802B}" type="datetimeFigureOut">
              <a:rPr lang="en-IN" smtClean="0"/>
              <a:t>01-11-2026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D4A6-3E9F-DE2E-4E14-AC99D21CA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C11B-ED26-560D-D292-25C7D1BA2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9A6AD-E6EC-43C2-BB03-9A71B61E7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3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zure-monitor/data-collection/diagnostic-settings?tabs=portal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icrosoftDocs/azure-monitor-docs/blob/main/articles/azure-monitor/fundamentals/data-sources.md?utm_source=chatgpt.com" TargetMode="External"/><Relationship Id="rId3" Type="http://schemas.openxmlformats.org/officeDocument/2006/relationships/hyperlink" Target="https://azure.microsoft.com/en-us/pricing/details/monitor/?msockid=2c90d56dc21d6cf53cd0c3ecc32c6dad&amp;utm_source=chatgpt.com" TargetMode="External"/><Relationship Id="rId7" Type="http://schemas.openxmlformats.org/officeDocument/2006/relationships/hyperlink" Target="https://splunk.github.io/splunk-add-on-for-microsoft-cloud-services/Configureeventhubs/?utm_source=chatgpt.com" TargetMode="External"/><Relationship Id="rId2" Type="http://schemas.openxmlformats.org/officeDocument/2006/relationships/hyperlink" Target="https://learn.microsoft.com/en-us/azure/azure-monitor/cost-usage?utm_source=chatgpt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learn.microsoft.com/en-us/azure/azure-monitor/data-collection/stream-monitoring-data-event-hubs?utm_source=chatgpt.com" TargetMode="External"/><Relationship Id="rId5" Type="http://schemas.openxmlformats.org/officeDocument/2006/relationships/hyperlink" Target="https://learn.microsoft.com/en-us/azure/azure-monitor/data-collection/diagnostic-settings?utm_source=chatgpt.com" TargetMode="External"/><Relationship Id="rId4" Type="http://schemas.openxmlformats.org/officeDocument/2006/relationships/hyperlink" Target="https://learn.microsoft.com/en-ca/azure/azure-monitor/logs/cost-logs?utm_source=chatgpt.com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6B29-59C7-C0B4-B55C-8ECA686F29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Azure Application Monitoring Strategy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5FAEF-985F-4DF7-8759-1B6692FF8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Centralized Monitoring, Observability, Alerting &amp; Troubleshooting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6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65D4B3-B0FC-A316-03D2-EBA4B76C5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1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2216-AA54-F5C8-01E6-B4684A83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monitoring?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23EA5-5539-C73C-06AB-EE718F0DEEB2}"/>
              </a:ext>
            </a:extLst>
          </p:cNvPr>
          <p:cNvSpPr txBox="1"/>
          <p:nvPr/>
        </p:nvSpPr>
        <p:spPr>
          <a:xfrm>
            <a:off x="923827" y="1838227"/>
            <a:ext cx="98133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Imagine we have an application hosted in Azure. Users suddenly report that the application is slow or unavailable.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Without proper monitoring, the support team has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Check whether the application is running.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Connect to different Azure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Check application logs manually.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Ask infrastructure teams whether CPU, memory or network usage is 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Search for errors across multiple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Try to identify when and where the problem started.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This takes time, and sometimes the issue gets resolved before the actual root cause is identified.</a:t>
            </a:r>
          </a:p>
          <a:p>
            <a:r>
              <a:rPr lang="en-IN" dirty="0">
                <a:latin typeface="+mj-lt"/>
              </a:rPr>
              <a:t>With proper monitoring, we can have a centralized view of application health, infrastructure performance, errors, dependencies and availability.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8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A476-5433-4596-DAA9-4C5272F6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6F37-8A0E-4352-E24D-90EDD8B6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Monitoring, logs, metrics, traces and observability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647521-9236-2414-0E5E-58C7B51F808A}"/>
              </a:ext>
            </a:extLst>
          </p:cNvPr>
          <p:cNvSpPr txBox="1"/>
          <p:nvPr/>
        </p:nvSpPr>
        <p:spPr>
          <a:xfrm>
            <a:off x="923827" y="1838227"/>
            <a:ext cx="106145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Metrics – What is happening?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Numerical measurements collected over time.</a:t>
            </a:r>
          </a:p>
          <a:p>
            <a:r>
              <a:rPr lang="en-IN" dirty="0">
                <a:latin typeface="+mj-lt"/>
              </a:rPr>
              <a:t>Examples: CPU 85%, memory 90%, request count, response time, HTTP 5xx count.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Logs – What happened?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Detailed records of events and activities.</a:t>
            </a:r>
          </a:p>
          <a:p>
            <a:r>
              <a:rPr lang="en-IN" dirty="0">
                <a:latin typeface="+mj-lt"/>
              </a:rPr>
              <a:t>Examples: Application exceptions, authentication failures, deployment events and database errors.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Traces – Where did the request go?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Follow a request across multiple application components.</a:t>
            </a:r>
          </a:p>
          <a:p>
            <a:r>
              <a:rPr lang="en-IN" dirty="0">
                <a:latin typeface="+mj-lt"/>
              </a:rPr>
              <a:t>Examples: API Gateway → App Service → Database → External API.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Observability – Why did it happen?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Combining metrics, logs and traces to understand system behaviour.</a:t>
            </a:r>
          </a:p>
          <a:p>
            <a:r>
              <a:rPr lang="en-IN" dirty="0">
                <a:latin typeface="+mj-lt"/>
              </a:rPr>
              <a:t>Example: Identify why an API became slow and which dependency caused the delay.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803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6A09-CA9D-FB02-3CBA-6DD5DC3A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Azure monitoring services: What do we actually need?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3F62A-DB70-7F69-2AE2-612429E7B595}"/>
              </a:ext>
            </a:extLst>
          </p:cNvPr>
          <p:cNvSpPr txBox="1"/>
          <p:nvPr/>
        </p:nvSpPr>
        <p:spPr>
          <a:xfrm>
            <a:off x="838200" y="5908099"/>
            <a:ext cx="10681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Note: </a:t>
            </a:r>
            <a:r>
              <a:rPr lang="en-IN" sz="1600" b="1" dirty="0">
                <a:latin typeface="+mj-lt"/>
              </a:rPr>
              <a:t>Azure Monitor is the overall monitoring platform. LAW is one of its central log storage and analytics components. Application Insights focuses on application-level observability.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8255A4-7C20-EB4D-67A8-4ACEE822B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96930"/>
              </p:ext>
            </p:extLst>
          </p:nvPr>
        </p:nvGraphicFramePr>
        <p:xfrm>
          <a:off x="942679" y="1425826"/>
          <a:ext cx="8210748" cy="4364565"/>
        </p:xfrm>
        <a:graphic>
          <a:graphicData uri="http://schemas.openxmlformats.org/drawingml/2006/table">
            <a:tbl>
              <a:tblPr/>
              <a:tblGrid>
                <a:gridCol w="2736916">
                  <a:extLst>
                    <a:ext uri="{9D8B030D-6E8A-4147-A177-3AD203B41FA5}">
                      <a16:colId xmlns:a16="http://schemas.microsoft.com/office/drawing/2014/main" val="2892215515"/>
                    </a:ext>
                  </a:extLst>
                </a:gridCol>
                <a:gridCol w="2736916">
                  <a:extLst>
                    <a:ext uri="{9D8B030D-6E8A-4147-A177-3AD203B41FA5}">
                      <a16:colId xmlns:a16="http://schemas.microsoft.com/office/drawing/2014/main" val="910632827"/>
                    </a:ext>
                  </a:extLst>
                </a:gridCol>
                <a:gridCol w="2736916">
                  <a:extLst>
                    <a:ext uri="{9D8B030D-6E8A-4147-A177-3AD203B41FA5}">
                      <a16:colId xmlns:a16="http://schemas.microsoft.com/office/drawing/2014/main" val="4248026401"/>
                    </a:ext>
                  </a:extLst>
                </a:gridCol>
              </a:tblGrid>
              <a:tr h="191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resource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Important metrics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Logs / telemetry to monitor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57802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Web Apps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CPU, memory, HTTP 4xx/5xx, response time, requests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HTTP logs, application logs, console logs, exceptions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539752"/>
                  </a:ext>
                </a:extLst>
              </a:tr>
              <a:tr h="4572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Function Apps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Function executions, failures, duration, memory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Function execution logs, exceptions, host logs, dependencies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156223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SQL Database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DTU/vCore, CPU, storage, connections, deadlocks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Auditing, errors, query performance, timeouts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80380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PostgreSQL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CPU, memory, connections, storage, IOPS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PostgreSQL logs, connection failures, slow queries, deadlocks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657607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Cosmos DB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RU consumption, throttling, latency, availability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Data-plane requests, 429 errors, diagnostic resource logs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015953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Storage Account (Blob)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Availability, latency, capacity, transactions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Read/write/delete operations, authentication failures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03939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Application Gateway + WAF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Throughput, backend health, latency, failed requests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Access logs, performance logs, WAF logs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300014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Monitor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Metric trends, alert status, resource health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Activity logs, alert history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656573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Application Insights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Request rate, failures, duration, dependencies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Requests, exceptions, traces, dependencies, availability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49082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Log Analytics Workspace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Ingestion volume, retention, query usage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Ingestion statistics, data volume, operational logs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10844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Event Hubs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Incoming/outgoing messages, throttling, throughput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Operational logs, errors, connection failures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15704"/>
                  </a:ext>
                </a:extLst>
              </a:tr>
              <a:tr h="4572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Service Bus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Active messages, dead-letter messages, queue size, age of oldest message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9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Operational logs, delivery failures, dead-letter activity</a:t>
                      </a:r>
                    </a:p>
                  </a:txBody>
                  <a:tcPr marL="44251" marR="44251" marT="29501" marB="29501">
                    <a:lnL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50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50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0560-BF66-2252-96A9-9ACB450A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Which Azure resources we monitor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3FF11-783C-6060-53B9-5E06719BF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77" y="1169308"/>
            <a:ext cx="9761553" cy="549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3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4013-4E73-9DE6-9E2E-79457D52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telemetry should we collect?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C008D7-4F52-F96E-E7A2-4EA50700A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29986"/>
              </p:ext>
            </p:extLst>
          </p:nvPr>
        </p:nvGraphicFramePr>
        <p:xfrm>
          <a:off x="1069760" y="1143933"/>
          <a:ext cx="7620364" cy="4072758"/>
        </p:xfrm>
        <a:graphic>
          <a:graphicData uri="http://schemas.openxmlformats.org/drawingml/2006/table">
            <a:tbl>
              <a:tblPr/>
              <a:tblGrid>
                <a:gridCol w="2003378">
                  <a:extLst>
                    <a:ext uri="{9D8B030D-6E8A-4147-A177-3AD203B41FA5}">
                      <a16:colId xmlns:a16="http://schemas.microsoft.com/office/drawing/2014/main" val="3453214233"/>
                    </a:ext>
                  </a:extLst>
                </a:gridCol>
                <a:gridCol w="5616986">
                  <a:extLst>
                    <a:ext uri="{9D8B030D-6E8A-4147-A177-3AD203B41FA5}">
                      <a16:colId xmlns:a16="http://schemas.microsoft.com/office/drawing/2014/main" val="3447501624"/>
                    </a:ext>
                  </a:extLst>
                </a:gridCol>
              </a:tblGrid>
              <a:tr h="2871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b="1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Resource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Important telemetry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661756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 Service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HTTP 4xx/5xx, response time, requests, CPU, memory, restarts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887192"/>
                  </a:ext>
                </a:extLst>
              </a:tr>
              <a:tr h="2871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Functions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Execution count, failures, duration, exceptions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774541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Application Gateway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Backend health, failed requests, response status, latency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4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1216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SQL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CPU, DTU/vCore utilization, connections, deadlocks, query performance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37068"/>
                  </a:ext>
                </a:extLst>
              </a:tr>
              <a:tr h="2871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Virtual Machines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CPU, memory, disk, network, Windows/Linux events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528006"/>
                  </a:ext>
                </a:extLst>
              </a:tr>
              <a:tr h="2871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Storage Account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Availability, latency, transactions, throttling, failures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025172"/>
                  </a:ext>
                </a:extLst>
              </a:tr>
              <a:tr h="2871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Key Vault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Access failures, throttling, audit events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04064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Service Bus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Active messages, dead-letter messages, queue depth, processing failures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0378"/>
                  </a:ext>
                </a:extLst>
              </a:tr>
              <a:tr h="40682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AKS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Node health, pod restarts, CPU/memory, container logs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373161"/>
                  </a:ext>
                </a:extLst>
              </a:tr>
              <a:tr h="23197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API Management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3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Request count, latency, backend failures, response codes</a:t>
                      </a:r>
                    </a:p>
                  </a:txBody>
                  <a:tcPr marL="66264" marR="66264" marT="44176" marB="44176">
                    <a:lnL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816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7B1C2F-2F8D-093C-6891-852E13098833}"/>
              </a:ext>
            </a:extLst>
          </p:cNvPr>
          <p:cNvSpPr txBox="1"/>
          <p:nvPr/>
        </p:nvSpPr>
        <p:spPr>
          <a:xfrm>
            <a:off x="899292" y="5429839"/>
            <a:ext cx="926201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j-lt"/>
              </a:rPr>
              <a:t>Monitoring data can be grouped into four main types:</a:t>
            </a:r>
            <a:endParaRPr lang="en-IN" sz="1200" dirty="0">
              <a:latin typeface="+mj-lt"/>
            </a:endParaRPr>
          </a:p>
          <a:p>
            <a:r>
              <a:rPr lang="en-IN" sz="1200" dirty="0">
                <a:latin typeface="+mj-lt"/>
              </a:rPr>
              <a:t>Platform metrics – resource utilization and performance.</a:t>
            </a:r>
          </a:p>
          <a:p>
            <a:r>
              <a:rPr lang="en-IN" sz="1200" dirty="0">
                <a:latin typeface="+mj-lt"/>
              </a:rPr>
              <a:t>Resource logs – detailed service-specific events.</a:t>
            </a:r>
          </a:p>
          <a:p>
            <a:r>
              <a:rPr lang="en-IN" sz="1200" dirty="0">
                <a:latin typeface="+mj-lt"/>
              </a:rPr>
              <a:t>Application telemetry – requests, dependencies, exceptions and traces.</a:t>
            </a:r>
          </a:p>
          <a:p>
            <a:r>
              <a:rPr lang="en-IN" sz="1200" dirty="0">
                <a:latin typeface="+mj-lt"/>
              </a:rPr>
              <a:t>Activity and audit logs – configuration changes, administrative actions and security events.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567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7DAA-F930-0528-6CD5-459E9A3E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Azure monitoring works</a:t>
            </a:r>
            <a:br>
              <a:rPr lang="en-IN" b="1" dirty="0"/>
            </a:br>
            <a:endParaRPr lang="en-IN" dirty="0"/>
          </a:p>
        </p:txBody>
      </p:sp>
      <p:pic>
        <p:nvPicPr>
          <p:cNvPr id="3074" name="Picture 2" descr="Azure Monitor overview - Azure Monitor | Microsoft Learn">
            <a:extLst>
              <a:ext uri="{FF2B5EF4-FFF2-40B4-BE49-F238E27FC236}">
                <a16:creationId xmlns:a16="http://schemas.microsoft.com/office/drawing/2014/main" id="{CCA83777-D429-DA18-D597-78E5F7B4E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363" y="1550807"/>
            <a:ext cx="6275552" cy="424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F67EA5-D52B-AC4B-EAA1-B97033F18299}"/>
              </a:ext>
            </a:extLst>
          </p:cNvPr>
          <p:cNvSpPr txBox="1"/>
          <p:nvPr/>
        </p:nvSpPr>
        <p:spPr>
          <a:xfrm>
            <a:off x="603315" y="1282045"/>
            <a:ext cx="42514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Our applications and Azure resources generate telemetry.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Azure Monitor collects platform metrics and monitoring data.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Diagnostic Settings route selected resource logs to the required destination.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Application Insights collects application-level telemetry.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Log Analytics Workspace stores supported log data for querying and analysis.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Azure Monitor Workbooks visualize the information.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Alert rules continuously evaluate defined conditions.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Notifications are sent to the responsible support teams.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6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1777-366C-CE8A-D1E9-7D1F16E6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LAW and why do we need it?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21CD4-E8BF-0D4B-3D57-E9FBD2B64757}"/>
              </a:ext>
            </a:extLst>
          </p:cNvPr>
          <p:cNvSpPr txBox="1"/>
          <p:nvPr/>
        </p:nvSpPr>
        <p:spPr>
          <a:xfrm>
            <a:off x="914400" y="1366887"/>
            <a:ext cx="1076541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LAW stands for </a:t>
            </a:r>
            <a:r>
              <a:rPr lang="en-IN" sz="1600" b="1" dirty="0">
                <a:latin typeface="+mj-lt"/>
              </a:rPr>
              <a:t>Log Analytics Workspace</a:t>
            </a:r>
            <a:r>
              <a:rPr lang="en-IN" sz="1600" dirty="0">
                <a:latin typeface="+mj-lt"/>
              </a:rPr>
              <a:t>.</a:t>
            </a:r>
          </a:p>
          <a:p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Think of it as a centralized location where we can store, search, </a:t>
            </a:r>
            <a:r>
              <a:rPr lang="en-IN" sz="1600" dirty="0" err="1">
                <a:latin typeface="+mj-lt"/>
              </a:rPr>
              <a:t>analyze</a:t>
            </a:r>
            <a:r>
              <a:rPr lang="en-IN" sz="1600" dirty="0">
                <a:latin typeface="+mj-lt"/>
              </a:rPr>
              <a:t> and correlate logs from multiple Azure resources.</a:t>
            </a:r>
          </a:p>
          <a:p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For example, suppose our application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One App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One Application Gateway.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One Azure 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One Key Vault.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One Storage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Instead of checking logs separately on every resource, we can send the required logs to a common workspace and query them together using Kusto Query Language (KQL).</a:t>
            </a:r>
          </a:p>
          <a:p>
            <a:endParaRPr lang="en-IN" sz="1600" dirty="0">
              <a:latin typeface="+mj-lt"/>
            </a:endParaRPr>
          </a:p>
          <a:p>
            <a:r>
              <a:rPr lang="en-IN" sz="1600" b="1" dirty="0">
                <a:latin typeface="+mj-lt"/>
              </a:rPr>
              <a:t>Benefits:</a:t>
            </a:r>
            <a:endParaRPr lang="en-IN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Centralized log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Cross-resource troubleshooting.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KQL-based searches.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Integration with Azure Monitor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Workbooks and dashboard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Configurable retention and table-level data management.</a:t>
            </a:r>
          </a:p>
          <a:p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832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9F9F-662C-2FF7-7268-D78C01C9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Splunk?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15CF1-DB3D-7AE1-D107-72DD1886F68E}"/>
              </a:ext>
            </a:extLst>
          </p:cNvPr>
          <p:cNvSpPr txBox="1"/>
          <p:nvPr/>
        </p:nvSpPr>
        <p:spPr>
          <a:xfrm>
            <a:off x="631597" y="1027906"/>
            <a:ext cx="84935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Splunk is a central log analytics and monitoring platform that can collect data from multiple environments, including Azure, AWS, on-premises servers, applications and network devices.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In our scenario, we can send selected Azure logs to Splunk through Azure Event Hubs.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For example:</a:t>
            </a:r>
          </a:p>
          <a:p>
            <a:r>
              <a:rPr lang="en-IN" dirty="0">
                <a:latin typeface="+mj-lt"/>
              </a:rPr>
              <a:t>Azure Web App → Azure Diagnostic Settings → Event Hubs → Splunk.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Splunk processes and indexes the data, allowing engineers to search it using SPL (Search Processing Language).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Main features of Splunk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Centralised monitoring across different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Powerful log searching and filtering.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Custom dashboards and visualisations.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Scheduled alerts and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Application and infrastructure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Correlation of logs from multiple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Integration with existing operational and security monitoring processes.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402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4DC9-632A-2495-BF47-A6996FC9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LAW vs Splunk – technical comparison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FEC904-9957-8575-2954-8E9DE0400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96919"/>
              </p:ext>
            </p:extLst>
          </p:nvPr>
        </p:nvGraphicFramePr>
        <p:xfrm>
          <a:off x="1021660" y="1457977"/>
          <a:ext cx="8546547" cy="4697727"/>
        </p:xfrm>
        <a:graphic>
          <a:graphicData uri="http://schemas.openxmlformats.org/drawingml/2006/table">
            <a:tbl>
              <a:tblPr/>
              <a:tblGrid>
                <a:gridCol w="1957210">
                  <a:extLst>
                    <a:ext uri="{9D8B030D-6E8A-4147-A177-3AD203B41FA5}">
                      <a16:colId xmlns:a16="http://schemas.microsoft.com/office/drawing/2014/main" val="1386609061"/>
                    </a:ext>
                  </a:extLst>
                </a:gridCol>
                <a:gridCol w="2630078">
                  <a:extLst>
                    <a:ext uri="{9D8B030D-6E8A-4147-A177-3AD203B41FA5}">
                      <a16:colId xmlns:a16="http://schemas.microsoft.com/office/drawing/2014/main" val="1498328834"/>
                    </a:ext>
                  </a:extLst>
                </a:gridCol>
                <a:gridCol w="3959259">
                  <a:extLst>
                    <a:ext uri="{9D8B030D-6E8A-4147-A177-3AD203B41FA5}">
                      <a16:colId xmlns:a16="http://schemas.microsoft.com/office/drawing/2014/main" val="3929744524"/>
                    </a:ext>
                  </a:extLst>
                </a:gridCol>
              </a:tblGrid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Comparison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LAW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Splunk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218296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Platform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Azure-native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Third-party enterprise platform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1158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Primary purpose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log analytics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Enterprise log analytics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84646"/>
                  </a:ext>
                </a:extLst>
              </a:tr>
              <a:tr h="4552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Data collection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Azure-native integrations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Forwarders, APIs, Event Hubs and integrations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658323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Query language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KQL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SPL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59142"/>
                  </a:ext>
                </a:extLst>
              </a:tr>
              <a:tr h="4552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integration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Excellent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Requires integration and configuration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67503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Cross-platform monitoring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Possible, but less centralised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Strong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711006"/>
                  </a:ext>
                </a:extLst>
              </a:tr>
              <a:tr h="4552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Application tracing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Excellent with Application Insights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Depends on instrumentation and Splunk observability capabilities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588779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Dashboards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Workbooks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Splunk Dashboards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129632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Alerts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Monitor Alerts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Splunk Alerts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32531"/>
                  </a:ext>
                </a:extLst>
              </a:tr>
              <a:tr h="4552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Retention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Configurable by table and workspace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Depends on Splunk deployment and contract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4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294613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Ingestion cost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consumption-based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Contract/licence-based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518826"/>
                  </a:ext>
                </a:extLst>
              </a:tr>
              <a:tr h="2690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Operational ownership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 platform/team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Splunk platform/team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559072"/>
                  </a:ext>
                </a:extLst>
              </a:tr>
              <a:tr h="4552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Native Azure troubleshooting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Excellent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Depends on data collected and integration</a:t>
                      </a:r>
                    </a:p>
                  </a:txBody>
                  <a:tcPr marL="57507" marR="57507" marT="38338" marB="38338">
                    <a:lnL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3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26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15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D93A-C247-27C1-BD04-6E434FB4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LAW – Pros and Cons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CD58-7F6F-6F84-DF74-BB5F74B4E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93421"/>
              </p:ext>
            </p:extLst>
          </p:nvPr>
        </p:nvGraphicFramePr>
        <p:xfrm>
          <a:off x="734505" y="1846885"/>
          <a:ext cx="10515600" cy="2377440"/>
        </p:xfrm>
        <a:graphic>
          <a:graphicData uri="http://schemas.openxmlformats.org/drawingml/2006/table">
            <a:tbl>
              <a:tblPr/>
              <a:tblGrid>
                <a:gridCol w="3903483">
                  <a:extLst>
                    <a:ext uri="{9D8B030D-6E8A-4147-A177-3AD203B41FA5}">
                      <a16:colId xmlns:a16="http://schemas.microsoft.com/office/drawing/2014/main" val="2707950835"/>
                    </a:ext>
                  </a:extLst>
                </a:gridCol>
                <a:gridCol w="6612117">
                  <a:extLst>
                    <a:ext uri="{9D8B030D-6E8A-4147-A177-3AD203B41FA5}">
                      <a16:colId xmlns:a16="http://schemas.microsoft.com/office/drawing/2014/main" val="3808906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Pros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Cons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56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Native Azure integration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Additional Azure consumption cost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5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5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Direct KQL queries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KQL learning curve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4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Easy Azure alert integration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Separate dashboards from enterprise Splunk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18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Application Insights integration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Large log ingestion can be expensive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1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23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Good resource-level visibility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Cross-platform enterprise visibility may be limited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21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0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2B1F-5766-8B31-928B-8F338A52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64C5-EC46-FD53-9B01-354EA762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Splunk – Pros and Cons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FC2F6A-5D7D-7F16-1FB6-D345AFA9F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46637"/>
              </p:ext>
            </p:extLst>
          </p:nvPr>
        </p:nvGraphicFramePr>
        <p:xfrm>
          <a:off x="659090" y="1968403"/>
          <a:ext cx="10515600" cy="2377440"/>
        </p:xfrm>
        <a:graphic>
          <a:graphicData uri="http://schemas.openxmlformats.org/drawingml/2006/table">
            <a:tbl>
              <a:tblPr/>
              <a:tblGrid>
                <a:gridCol w="4223995">
                  <a:extLst>
                    <a:ext uri="{9D8B030D-6E8A-4147-A177-3AD203B41FA5}">
                      <a16:colId xmlns:a16="http://schemas.microsoft.com/office/drawing/2014/main" val="3901926220"/>
                    </a:ext>
                  </a:extLst>
                </a:gridCol>
                <a:gridCol w="6291605">
                  <a:extLst>
                    <a:ext uri="{9D8B030D-6E8A-4147-A177-3AD203B41FA5}">
                      <a16:colId xmlns:a16="http://schemas.microsoft.com/office/drawing/2014/main" val="4203775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Pros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Cons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D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51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Existing enterprise platform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Data onboarding is required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145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Cross-platform monitoring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Additional ingestion may affect licence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40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Centralised dashboards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Azure-specific investigation may need extra configuration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58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Powerful search and alerting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Data forwarding infrastructure to maintain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93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Existing team experience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  <a:latin typeface="+mj-lt"/>
                        </a:rPr>
                        <a:t>May duplicate Azure-native monitoring capabilities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55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8413-79FD-3CC0-483A-D271203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Diagnostic Settings: Why are they required?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65B38-84D0-74E0-78B8-E859F2A63667}"/>
              </a:ext>
            </a:extLst>
          </p:cNvPr>
          <p:cNvSpPr txBox="1"/>
          <p:nvPr/>
        </p:nvSpPr>
        <p:spPr>
          <a:xfrm>
            <a:off x="838200" y="1690688"/>
            <a:ext cx="94275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 common question is: If Azure already collects metrics, why do we need Diagnostic Settings?</a:t>
            </a:r>
          </a:p>
          <a:p>
            <a:r>
              <a:rPr lang="en-IN" dirty="0">
                <a:latin typeface="+mj-lt"/>
              </a:rPr>
              <a:t>The answer is that Azure platform metrics and activity logs are generally available automatically in Azure Monitor, but resource-specific logs aren't automatically stored in a Log Analytics Workspace.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Diagnostic Settings tell Azure: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Which log categories should be collected?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Should platform metrics also be exported?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Where should the data be sent?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Should it go to Log Analytics, Storage Account, Event Hubs or a supported partner destination?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Note: We can also configure diagnostic settings through Azure Policy for large environments.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4416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1E41-E5BF-0241-9BFD-4F3A76B4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Application Gateway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7F7F8-63E8-35D6-8B6A-E24903D8B312}"/>
              </a:ext>
            </a:extLst>
          </p:cNvPr>
          <p:cNvSpPr txBox="1"/>
          <p:nvPr/>
        </p:nvSpPr>
        <p:spPr>
          <a:xfrm>
            <a:off x="958392" y="1027906"/>
            <a:ext cx="106522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Without Diagnostic Settings: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We can view supported platform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We won't automatically have its resource logs in LAW.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With Diagnostic Settings: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Select Access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Select Performance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Select Firewall Logs, if applicable.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Select Log Analytics Workspace as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Save the configuration.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Now the selected logs can be queried centrally.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Microsoft also supports routing diagnostic data to multiple destinations, which is important when considering a hybrid LAW and Splunk approach. Each resource can have up to five diagnostic settings. 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Ref: </a:t>
            </a:r>
            <a:r>
              <a:rPr lang="en-IN" dirty="0">
                <a:latin typeface="+mj-lt"/>
                <a:hlinkClick r:id="rId2"/>
              </a:rPr>
              <a:t>Diagnostic Settings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281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A963-54D1-D10C-C220-2AC38140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Can we send the same logs to both LAW and Splunk?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1B689-03B9-FAEE-5C28-276823E2CB7C}"/>
              </a:ext>
            </a:extLst>
          </p:cNvPr>
          <p:cNvSpPr txBox="1"/>
          <p:nvPr/>
        </p:nvSpPr>
        <p:spPr>
          <a:xfrm>
            <a:off x="838200" y="1866507"/>
            <a:ext cx="9135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Azure Diagnostic Settings support multiple destinations in the same setting, including a Log Analytics Workspace and an Event Hub.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7A991-E671-483D-4D7B-DD57A227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572" y="2645133"/>
            <a:ext cx="5387807" cy="2453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296877-9FEA-D1EF-9BFB-EF884A085B7F}"/>
              </a:ext>
            </a:extLst>
          </p:cNvPr>
          <p:cNvSpPr txBox="1"/>
          <p:nvPr/>
        </p:nvSpPr>
        <p:spPr>
          <a:xfrm>
            <a:off x="1187777" y="5382705"/>
            <a:ext cx="10397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Limitation: </a:t>
            </a:r>
            <a:r>
              <a:rPr lang="en-IN" dirty="0">
                <a:latin typeface="+mj-lt"/>
              </a:rPr>
              <a:t>Microsoft allows up to five diagnostic settings per resource, with no more than one destination of each type in an individual setting.</a:t>
            </a:r>
          </a:p>
        </p:txBody>
      </p:sp>
    </p:spTree>
    <p:extLst>
      <p:ext uri="{BB962C8B-B14F-4D97-AF65-F5344CB8AC3E}">
        <p14:creationId xmlns:p14="http://schemas.microsoft.com/office/powerpoint/2010/main" val="127751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3C78-215F-C1F4-9F20-F975C80F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if we stream all diagnostic logs to LAW?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B1181-6299-1657-99F2-34CB0FB60670}"/>
              </a:ext>
            </a:extLst>
          </p:cNvPr>
          <p:cNvSpPr txBox="1"/>
          <p:nvPr/>
        </p:nvSpPr>
        <p:spPr>
          <a:xfrm>
            <a:off x="649664" y="1404594"/>
            <a:ext cx="9898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Technically, we can collect a large portion of the available diagnostic logs into LAW. However, I would not recommend enabling every available category across every resource without analysing the data first.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Why?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More logs mean more ingestion.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More ingestion means higher Azure monitoring charges.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Some logs are useful for daily operations, while others are only useful for auditing or historical investigations.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Duplicate application logs may be collected through both Application Insights and other logging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Some platform metrics are already collected automatically and do not need to be exported into LAW.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Microsoft specifically recommends selecting required categories and using filtering/transformation options where supported to control ingestion costs.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47844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FCBA-FF0B-AF23-BC76-26EEFF62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How monitoring helps in troubleshooting and tracing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CC899-0953-0A2D-F25B-AC811A6EC4F2}"/>
              </a:ext>
            </a:extLst>
          </p:cNvPr>
          <p:cNvSpPr txBox="1"/>
          <p:nvPr/>
        </p:nvSpPr>
        <p:spPr>
          <a:xfrm>
            <a:off x="838200" y="1819373"/>
            <a:ext cx="91824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a real production issue.</a:t>
            </a:r>
          </a:p>
          <a:p>
            <a:endParaRPr lang="en-IN" dirty="0"/>
          </a:p>
          <a:p>
            <a:r>
              <a:rPr lang="en-IN" b="1" dirty="0"/>
              <a:t>Scenario: Users report that the application is taking 10–15 seconds to load.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848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2E8C-5EB5-D639-17A0-CF2EFD8E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we investigates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71881-8278-42B9-7B08-27C458509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786327"/>
              </p:ext>
            </p:extLst>
          </p:nvPr>
        </p:nvGraphicFramePr>
        <p:xfrm>
          <a:off x="734506" y="1189750"/>
          <a:ext cx="7212290" cy="3365997"/>
        </p:xfrm>
        <a:graphic>
          <a:graphicData uri="http://schemas.openxmlformats.org/drawingml/2006/table">
            <a:tbl>
              <a:tblPr/>
              <a:tblGrid>
                <a:gridCol w="660022">
                  <a:extLst>
                    <a:ext uri="{9D8B030D-6E8A-4147-A177-3AD203B41FA5}">
                      <a16:colId xmlns:a16="http://schemas.microsoft.com/office/drawing/2014/main" val="1495148405"/>
                    </a:ext>
                  </a:extLst>
                </a:gridCol>
                <a:gridCol w="3300020">
                  <a:extLst>
                    <a:ext uri="{9D8B030D-6E8A-4147-A177-3AD203B41FA5}">
                      <a16:colId xmlns:a16="http://schemas.microsoft.com/office/drawing/2014/main" val="4285619281"/>
                    </a:ext>
                  </a:extLst>
                </a:gridCol>
                <a:gridCol w="3252248">
                  <a:extLst>
                    <a:ext uri="{9D8B030D-6E8A-4147-A177-3AD203B41FA5}">
                      <a16:colId xmlns:a16="http://schemas.microsoft.com/office/drawing/2014/main" val="3691958378"/>
                    </a:ext>
                  </a:extLst>
                </a:gridCol>
              </a:tblGrid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 dirty="0">
                          <a:solidFill>
                            <a:srgbClr val="0D0D0D"/>
                          </a:solidFill>
                          <a:effectLst/>
                        </a:rPr>
                        <a:t>Step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0D0D0D"/>
                          </a:solidFill>
                          <a:effectLst/>
                        </a:rPr>
                        <a:t>What the engineer checks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0D0D0D"/>
                          </a:solidFill>
                          <a:effectLst/>
                        </a:rPr>
                        <a:t>Monitoring tool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23057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1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Is the application available?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Azure Monitor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160908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2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Is the response time increasing?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Application Insights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09471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3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Are there HTTP 500 errors?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LAW / Splunk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98702"/>
                  </a:ext>
                </a:extLst>
              </a:tr>
              <a:tr h="4703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dirty="0">
                          <a:solidFill>
                            <a:srgbClr val="0D0D0D"/>
                          </a:solidFill>
                          <a:effectLst/>
                        </a:rPr>
                        <a:t>4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dirty="0">
                          <a:solidFill>
                            <a:srgbClr val="0D0D0D"/>
                          </a:solidFill>
                          <a:effectLst/>
                        </a:rPr>
                        <a:t>Which component is taking more time?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Application Insights distributed traces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990494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5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Is the database responding slowly?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SQL metrics and logs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187914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6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Are messages getting stuck?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Service Bus metrics and logs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3544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7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Did any deployment or configuration change happen?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Azure Activity Log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889964"/>
                  </a:ext>
                </a:extLst>
              </a:tr>
              <a:tr h="2779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8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dirty="0">
                          <a:solidFill>
                            <a:srgbClr val="0D0D0D"/>
                          </a:solidFill>
                          <a:effectLst/>
                        </a:rPr>
                        <a:t>What is the root cause?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dirty="0">
                          <a:solidFill>
                            <a:srgbClr val="0D0D0D"/>
                          </a:solidFill>
                          <a:effectLst/>
                        </a:rPr>
                        <a:t>Correlated logs, metrics and traces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1512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0DDC42-38B9-2ECB-1232-5B64B5C69BAD}"/>
              </a:ext>
            </a:extLst>
          </p:cNvPr>
          <p:cNvSpPr txBox="1"/>
          <p:nvPr/>
        </p:nvSpPr>
        <p:spPr>
          <a:xfrm>
            <a:off x="8512405" y="1189750"/>
            <a:ext cx="28319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Application Insights identifies that the Web App request is taking 12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Distributed tracing shows that 9 seconds are spent waiting for Azure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SQL monitoring identifies slow queries or connection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engineering team investigates the query or connection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After the fix, the response time returns to 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Without proper monitoring, engineers may spend hours checking different resources manually.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With proper monitoring, they can narrow down the problem much faster.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0062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959F9-6C2E-903C-A15F-802BD6FB1F87}"/>
              </a:ext>
            </a:extLst>
          </p:cNvPr>
          <p:cNvSpPr txBox="1"/>
          <p:nvPr/>
        </p:nvSpPr>
        <p:spPr>
          <a:xfrm>
            <a:off x="857839" y="593889"/>
            <a:ext cx="105297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Cost consideration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Illustrative daily log ingestion scenario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50 GB/day</a:t>
            </a:r>
          </a:p>
          <a:p>
            <a:r>
              <a:rPr lang="en-IN" dirty="0">
                <a:latin typeface="+mj-lt"/>
              </a:rPr>
              <a:t>Example only</a:t>
            </a:r>
          </a:p>
          <a:p>
            <a:r>
              <a:rPr lang="en-IN" b="1" dirty="0">
                <a:latin typeface="+mj-lt"/>
              </a:rPr>
              <a:t>1,500 GB</a:t>
            </a:r>
          </a:p>
          <a:p>
            <a:r>
              <a:rPr lang="en-IN" dirty="0">
                <a:latin typeface="+mj-lt"/>
              </a:rPr>
              <a:t>30-day ingestion volume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18,250 GB</a:t>
            </a:r>
          </a:p>
          <a:p>
            <a:r>
              <a:rPr lang="en-IN" dirty="0">
                <a:latin typeface="+mj-lt"/>
              </a:rPr>
              <a:t>365-day ingestion volume</a:t>
            </a:r>
          </a:p>
          <a:p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If we send the same 50 GB/day to both platforms: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LAW: Charges for applicable ingestion and retention.</a:t>
            </a:r>
          </a:p>
          <a:p>
            <a:r>
              <a:rPr lang="en-IN" dirty="0">
                <a:latin typeface="+mj-lt"/>
              </a:rPr>
              <a:t>Splunk: Consumes the applicable Splunk ingestion or workload entitlement.</a:t>
            </a:r>
          </a:p>
          <a:p>
            <a:r>
              <a:rPr lang="en-IN" dirty="0">
                <a:latin typeface="+mj-lt"/>
              </a:rPr>
              <a:t>Event Hubs: May have additional capacity and transaction charges.</a:t>
            </a:r>
          </a:p>
          <a:p>
            <a:r>
              <a:rPr lang="en-IN" dirty="0">
                <a:latin typeface="+mj-lt"/>
              </a:rPr>
              <a:t>Data transfer: May have applicable network charges.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3456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C36F-5B76-D351-3D61-3D9CC524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29" y="2250486"/>
            <a:ext cx="10515600" cy="1325563"/>
          </a:xfrm>
        </p:spPr>
        <p:txBody>
          <a:bodyPr>
            <a:noAutofit/>
          </a:bodyPr>
          <a:lstStyle/>
          <a:p>
            <a:r>
              <a:rPr lang="en-IN" sz="1600" b="1" dirty="0"/>
              <a:t>Should we use LAW, Splunk or both?</a:t>
            </a:r>
            <a:br>
              <a:rPr lang="en-IN" sz="1600" b="1" dirty="0"/>
            </a:br>
            <a:br>
              <a:rPr lang="en-IN" sz="1600" b="1" dirty="0"/>
            </a:br>
            <a:r>
              <a:rPr lang="en-IN" sz="1600" b="1" dirty="0"/>
              <a:t>Recommend to Use Hybrid – Both LAW and Splunk</a:t>
            </a:r>
            <a:br>
              <a:rPr lang="en-IN" sz="1600" b="1" dirty="0"/>
            </a:br>
            <a:br>
              <a:rPr lang="en-IN" sz="1600" b="1" dirty="0"/>
            </a:br>
            <a:r>
              <a:rPr lang="en-IN" sz="1800" dirty="0"/>
              <a:t>Use Azure-native monitoring for application troubleshooting and resource health. Send selected operational and enterprise-relevant logs to Splunk.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Advantages:</a:t>
            </a:r>
            <a:br>
              <a:rPr lang="en-IN" sz="1800" b="1" dirty="0"/>
            </a:br>
            <a:br>
              <a:rPr lang="en-IN" sz="1800" dirty="0"/>
            </a:br>
            <a:r>
              <a:rPr lang="en-IN" sz="1800" dirty="0"/>
              <a:t>Native Azure troubleshooting.</a:t>
            </a:r>
            <a:br>
              <a:rPr lang="en-IN" sz="1800" dirty="0"/>
            </a:br>
            <a:r>
              <a:rPr lang="en-IN" sz="1800" dirty="0"/>
              <a:t>Existing Splunk investment is utilised.</a:t>
            </a:r>
            <a:br>
              <a:rPr lang="en-IN" sz="1800" dirty="0"/>
            </a:br>
            <a:r>
              <a:rPr lang="en-IN" sz="1800" dirty="0"/>
              <a:t>Enterprise-wide monitoring remains centralised.</a:t>
            </a:r>
            <a:br>
              <a:rPr lang="en-IN" sz="1800" dirty="0"/>
            </a:br>
            <a:r>
              <a:rPr lang="en-IN" sz="1800" dirty="0"/>
              <a:t>Critical alerts can be configured in Azure.</a:t>
            </a:r>
            <a:br>
              <a:rPr lang="en-IN" sz="1800" dirty="0"/>
            </a:br>
            <a:r>
              <a:rPr lang="en-IN" sz="1800" dirty="0"/>
              <a:t>Splunk can correlate Azure events with non-Azure environments.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Disadvantages:</a:t>
            </a:r>
            <a:br>
              <a:rPr lang="en-IN" sz="1800" b="1" dirty="0"/>
            </a:br>
            <a:br>
              <a:rPr lang="en-IN" sz="1800" dirty="0"/>
            </a:br>
            <a:r>
              <a:rPr lang="en-IN" sz="1800" dirty="0"/>
              <a:t>Additional ingestion and retention cost if the same data is stored in both systems.</a:t>
            </a:r>
            <a:br>
              <a:rPr lang="en-IN" sz="1800" dirty="0"/>
            </a:br>
            <a:r>
              <a:rPr lang="en-IN" sz="1800" dirty="0"/>
              <a:t>More than one dashboard to maintain.</a:t>
            </a:r>
            <a:br>
              <a:rPr lang="en-IN" sz="1800" dirty="0"/>
            </a:br>
            <a:r>
              <a:rPr lang="en-IN" sz="1800" dirty="0"/>
              <a:t>Requires clear ownership and data collection standards.</a:t>
            </a: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0500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3C5D-288C-F50F-05E2-87B70607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Approach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661CB2-EB67-B74C-7A91-3A169544C2CC}"/>
              </a:ext>
            </a:extLst>
          </p:cNvPr>
          <p:cNvGraphicFramePr>
            <a:graphicFrameLocks noGrp="1"/>
          </p:cNvGraphicFramePr>
          <p:nvPr/>
        </p:nvGraphicFramePr>
        <p:xfrm>
          <a:off x="1284424" y="1825628"/>
          <a:ext cx="9623152" cy="4351332"/>
        </p:xfrm>
        <a:graphic>
          <a:graphicData uri="http://schemas.openxmlformats.org/drawingml/2006/table">
            <a:tbl>
              <a:tblPr/>
              <a:tblGrid>
                <a:gridCol w="4811576">
                  <a:extLst>
                    <a:ext uri="{9D8B030D-6E8A-4147-A177-3AD203B41FA5}">
                      <a16:colId xmlns:a16="http://schemas.microsoft.com/office/drawing/2014/main" val="4292279008"/>
                    </a:ext>
                  </a:extLst>
                </a:gridCol>
                <a:gridCol w="4811576">
                  <a:extLst>
                    <a:ext uri="{9D8B030D-6E8A-4147-A177-3AD203B41FA5}">
                      <a16:colId xmlns:a16="http://schemas.microsoft.com/office/drawing/2014/main" val="143861135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solidFill>
                            <a:srgbClr val="0D0D0D"/>
                          </a:solidFill>
                          <a:effectLst/>
                        </a:rPr>
                        <a:t>Monitoring requirement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solidFill>
                            <a:srgbClr val="0D0D0D"/>
                          </a:solidFill>
                          <a:effectLst/>
                        </a:rPr>
                        <a:t>Recommended platform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0761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Application performance monitoring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Application Insights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8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497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Distributed tracing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Application Insights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5612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resource metrics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Monitor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7444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Native Azure resource health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Monitor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8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9476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Application-specific troubleshooting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dirty="0">
                          <a:solidFill>
                            <a:srgbClr val="0D0D0D"/>
                          </a:solidFill>
                          <a:effectLst/>
                        </a:rPr>
                        <a:t>LAW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8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89648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operational dashboards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Workbooks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31681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critical alerts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Azure Monitor Alerts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3952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Enterprise-wide dashboards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Splunk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A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2307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Cross-platform log correlation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Splunk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8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5441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Centralised enterprise reporting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Splunk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589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solidFill>
                            <a:srgbClr val="0D0D0D"/>
                          </a:solidFill>
                          <a:effectLst/>
                        </a:rPr>
                        <a:t>Selected Azure security and audit logs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dirty="0">
                          <a:solidFill>
                            <a:srgbClr val="0D0D0D"/>
                          </a:solidFill>
                          <a:effectLst/>
                        </a:rPr>
                        <a:t>Splunk, according to enterprise requirements</a:t>
                      </a:r>
                    </a:p>
                  </a:txBody>
                  <a:tcPr marL="83680" marR="83680" marT="55786" marB="55786">
                    <a:lnL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97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73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5204-191B-9890-4F1F-BF28BFC8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Monitoring Model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9D32DC-F311-416E-D7CA-330DE6B11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518228"/>
              </p:ext>
            </p:extLst>
          </p:nvPr>
        </p:nvGraphicFramePr>
        <p:xfrm>
          <a:off x="999241" y="1574954"/>
          <a:ext cx="8027868" cy="4402514"/>
        </p:xfrm>
        <a:graphic>
          <a:graphicData uri="http://schemas.openxmlformats.org/drawingml/2006/table">
            <a:tbl>
              <a:tblPr/>
              <a:tblGrid>
                <a:gridCol w="1809947">
                  <a:extLst>
                    <a:ext uri="{9D8B030D-6E8A-4147-A177-3AD203B41FA5}">
                      <a16:colId xmlns:a16="http://schemas.microsoft.com/office/drawing/2014/main" val="1705212900"/>
                    </a:ext>
                  </a:extLst>
                </a:gridCol>
                <a:gridCol w="3541965">
                  <a:extLst>
                    <a:ext uri="{9D8B030D-6E8A-4147-A177-3AD203B41FA5}">
                      <a16:colId xmlns:a16="http://schemas.microsoft.com/office/drawing/2014/main" val="591311924"/>
                    </a:ext>
                  </a:extLst>
                </a:gridCol>
                <a:gridCol w="2675956">
                  <a:extLst>
                    <a:ext uri="{9D8B030D-6E8A-4147-A177-3AD203B41FA5}">
                      <a16:colId xmlns:a16="http://schemas.microsoft.com/office/drawing/2014/main" val="3309165790"/>
                    </a:ext>
                  </a:extLst>
                </a:gridCol>
              </a:tblGrid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0D0D0D"/>
                          </a:solidFill>
                          <a:effectLst/>
                        </a:rPr>
                        <a:t>Frequency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0D0D0D"/>
                          </a:solidFill>
                          <a:effectLst/>
                        </a:rPr>
                        <a:t>Monitoring activity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0D0D0D"/>
                          </a:solidFill>
                          <a:effectLst/>
                        </a:rPr>
                        <a:t>Expected outcome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54203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Check application availability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outages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49661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HTTP 4xx/5xx errors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application failures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597649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Check response time and latency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performance issues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428503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database health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database bottlenecks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198702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Check Function App failures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processing failures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1133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Check Service Bus dead-letter messages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failed business transactions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38230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Event Hubs throttling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streaming problems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10526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Daily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critical and warning alerts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incidents requiring action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C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652845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Weekly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recurring errors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long-term issues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93596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Weekly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resource utilisation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Identify capacity problems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9613"/>
                  </a:ext>
                </a:extLst>
              </a:tr>
              <a:tr h="3024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Weekly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ingestion volume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Control monitoring costs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5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169358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Monthly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>
                          <a:solidFill>
                            <a:srgbClr val="0D0D0D"/>
                          </a:solidFill>
                          <a:effectLst/>
                        </a:rPr>
                        <a:t>Review retention and alert thresholds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dirty="0">
                          <a:solidFill>
                            <a:srgbClr val="0D0D0D"/>
                          </a:solidFill>
                          <a:effectLst/>
                        </a:rPr>
                        <a:t>Optimise costs and operations</a:t>
                      </a:r>
                    </a:p>
                  </a:txBody>
                  <a:tcPr marL="69808" marR="69808" marT="46538" marB="46538">
                    <a:lnL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D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61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325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1986-BD5E-104C-5D9F-70D4916D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795D4-11CB-F7D3-5B23-CE9C3900D7F9}"/>
              </a:ext>
            </a:extLst>
          </p:cNvPr>
          <p:cNvSpPr txBox="1"/>
          <p:nvPr/>
        </p:nvSpPr>
        <p:spPr>
          <a:xfrm>
            <a:off x="1065229" y="2036190"/>
            <a:ext cx="61557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Is your existing Splunk deployment Splunk Cloud or Splunk Enterprise?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Is your licence based on daily ingestion volume or workload?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 we currently send any Azure logs to Splunk?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Are we monitoring only production resources or development, UAT and production?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the required retention period: 30, 90, 180 or 365 days?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Forwarders or Internal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Splunk add-on or other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113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1AA4-482D-BF0F-2AFA-1DCAB21C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8A25C-0D0B-6585-D6BC-CAD1A33509B8}"/>
              </a:ext>
            </a:extLst>
          </p:cNvPr>
          <p:cNvSpPr txBox="1"/>
          <p:nvPr/>
        </p:nvSpPr>
        <p:spPr>
          <a:xfrm>
            <a:off x="980388" y="2064470"/>
            <a:ext cx="6429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Azure Monitor cost and usage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3"/>
              </a:rPr>
              <a:t>Azure Monitor pricing and log ingestion plans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4"/>
              </a:rPr>
              <a:t>Azure Monitor Logs cost calculations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5"/>
              </a:rPr>
              <a:t>Azure Diagnostic Settings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6"/>
              </a:rPr>
              <a:t>Streaming Azure Monitor data to Event Hubs and external partners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7"/>
              </a:rPr>
              <a:t>Splunk Azure Event Hubs integration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8"/>
              </a:rPr>
              <a:t>Azure Monitor data sources and collection methods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569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07A2-D313-1BB4-B8CF-2D13DE4A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Which dashboards should we create for daily monitoring?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ED2D6-B900-B5EC-CB3D-38BC3D2E7AAC}"/>
              </a:ext>
            </a:extLst>
          </p:cNvPr>
          <p:cNvSpPr txBox="1"/>
          <p:nvPr/>
        </p:nvSpPr>
        <p:spPr>
          <a:xfrm>
            <a:off x="838200" y="1123672"/>
            <a:ext cx="9673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Dashboard 1 – Application Health Overview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070264-3122-BD5F-1D78-180ED17A7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29972"/>
              </p:ext>
            </p:extLst>
          </p:nvPr>
        </p:nvGraphicFramePr>
        <p:xfrm>
          <a:off x="838200" y="1844040"/>
          <a:ext cx="10515600" cy="3169920"/>
        </p:xfrm>
        <a:graphic>
          <a:graphicData uri="http://schemas.openxmlformats.org/drawingml/2006/table">
            <a:tbl>
              <a:tblPr/>
              <a:tblGrid>
                <a:gridCol w="2753412">
                  <a:extLst>
                    <a:ext uri="{9D8B030D-6E8A-4147-A177-3AD203B41FA5}">
                      <a16:colId xmlns:a16="http://schemas.microsoft.com/office/drawing/2014/main" val="1065691318"/>
                    </a:ext>
                  </a:extLst>
                </a:gridCol>
                <a:gridCol w="7762188">
                  <a:extLst>
                    <a:ext uri="{9D8B030D-6E8A-4147-A177-3AD203B41FA5}">
                      <a16:colId xmlns:a16="http://schemas.microsoft.com/office/drawing/2014/main" val="2284398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Dashboard component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What it shows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2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449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Application availability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Available / unavailable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09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Total requests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Incoming traffic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2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Failed requests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</a:rPr>
                        <a:t>HTTP 4xx and 5xx trends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873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Average response time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Application performance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19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60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P95 response time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Slow user requests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549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Exception count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Application errors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1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5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Dependency failures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</a:rPr>
                        <a:t>SQL, API and downstream failures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0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859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196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52FF-D416-0849-401B-A0A84D95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1400" b="1" dirty="0">
                <a:latin typeface="+mn-lt"/>
                <a:ea typeface="+mn-ea"/>
                <a:cs typeface="+mn-cs"/>
              </a:rPr>
              <a:t>Dashboard 2 – Infrastructure Health</a:t>
            </a:r>
            <a:br>
              <a:rPr lang="en-IN" sz="1600" b="1" dirty="0"/>
            </a:br>
            <a:r>
              <a:rPr lang="en-IN" sz="1600" dirty="0"/>
              <a:t>.</a:t>
            </a:r>
            <a:br>
              <a:rPr lang="en-IN" sz="1600" dirty="0"/>
            </a:br>
            <a:br>
              <a:rPr lang="en-IN" sz="1600" b="1" dirty="0"/>
            </a:b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5D126-266E-82F1-03D3-6DA073F81E52}"/>
              </a:ext>
            </a:extLst>
          </p:cNvPr>
          <p:cNvSpPr txBox="1"/>
          <p:nvPr/>
        </p:nvSpPr>
        <p:spPr>
          <a:xfrm>
            <a:off x="933254" y="1121790"/>
            <a:ext cx="47699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Web App CPU and memory.</a:t>
            </a:r>
            <a:br>
              <a:rPr lang="en-IN" dirty="0"/>
            </a:br>
            <a:r>
              <a:rPr lang="en-IN" dirty="0"/>
              <a:t>2. Function execution count and failures.</a:t>
            </a:r>
            <a:br>
              <a:rPr lang="en-IN" dirty="0"/>
            </a:br>
            <a:r>
              <a:rPr lang="en-IN" dirty="0"/>
              <a:t>3. SQL CPU, storage and connections.</a:t>
            </a:r>
            <a:br>
              <a:rPr lang="en-IN" dirty="0"/>
            </a:br>
            <a:r>
              <a:rPr lang="en-IN" dirty="0"/>
              <a:t>4. PostgreSQL connections and performance.</a:t>
            </a:r>
            <a:br>
              <a:rPr lang="en-IN" dirty="0"/>
            </a:br>
            <a:r>
              <a:rPr lang="en-IN" dirty="0"/>
              <a:t>5. Cosmos DB RU consumption and throttling.</a:t>
            </a:r>
            <a:br>
              <a:rPr lang="en-IN" dirty="0"/>
            </a:br>
            <a:r>
              <a:rPr lang="en-IN" dirty="0"/>
              <a:t>6. Storage availability and capacity.</a:t>
            </a:r>
            <a:br>
              <a:rPr lang="en-IN" dirty="0"/>
            </a:br>
            <a:r>
              <a:rPr lang="en-IN" dirty="0"/>
              <a:t>7. Application Gateway backend health.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F09A0-DC0B-4D1B-6460-8EB1359FF955}"/>
              </a:ext>
            </a:extLst>
          </p:cNvPr>
          <p:cNvSpPr txBox="1"/>
          <p:nvPr/>
        </p:nvSpPr>
        <p:spPr>
          <a:xfrm>
            <a:off x="933254" y="3525625"/>
            <a:ext cx="4081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Dashboard 3 – Integration and Messaging Health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248DB-6589-DA15-5DCD-155553EF3384}"/>
              </a:ext>
            </a:extLst>
          </p:cNvPr>
          <p:cNvSpPr txBox="1"/>
          <p:nvPr/>
        </p:nvSpPr>
        <p:spPr>
          <a:xfrm>
            <a:off x="933253" y="4091050"/>
            <a:ext cx="46097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Event Hub incoming messages.</a:t>
            </a:r>
          </a:p>
          <a:p>
            <a:r>
              <a:rPr lang="en-IN" dirty="0"/>
              <a:t>2. Event Hub throttled requests.</a:t>
            </a:r>
          </a:p>
          <a:p>
            <a:r>
              <a:rPr lang="en-IN" dirty="0"/>
              <a:t>3. Service Bus active messages.</a:t>
            </a:r>
          </a:p>
          <a:p>
            <a:r>
              <a:rPr lang="en-IN" dirty="0"/>
              <a:t>4. Dead-letter message count.</a:t>
            </a:r>
          </a:p>
          <a:p>
            <a:r>
              <a:rPr lang="en-IN" dirty="0"/>
              <a:t>5. Message processing failures.</a:t>
            </a:r>
          </a:p>
          <a:p>
            <a:r>
              <a:rPr lang="en-IN" dirty="0"/>
              <a:t>6. Oldest message age.</a:t>
            </a:r>
          </a:p>
          <a:p>
            <a:r>
              <a:rPr lang="en-IN" dirty="0"/>
              <a:t>7. Function processing failures.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3C918-5A22-845C-1BC2-E8E71C56919A}"/>
              </a:ext>
            </a:extLst>
          </p:cNvPr>
          <p:cNvSpPr txBox="1"/>
          <p:nvPr/>
        </p:nvSpPr>
        <p:spPr>
          <a:xfrm>
            <a:off x="6749592" y="2479249"/>
            <a:ext cx="4194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Dashboard 4 – Operations and Alert Summary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17DDE-186A-5346-A4B1-A350E2D862B8}"/>
              </a:ext>
            </a:extLst>
          </p:cNvPr>
          <p:cNvSpPr txBox="1"/>
          <p:nvPr/>
        </p:nvSpPr>
        <p:spPr>
          <a:xfrm>
            <a:off x="6834433" y="3064024"/>
            <a:ext cx="41100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Critical alerts.</a:t>
            </a:r>
          </a:p>
          <a:p>
            <a:r>
              <a:rPr lang="en-IN" dirty="0"/>
              <a:t>2. Warning alerts.</a:t>
            </a:r>
          </a:p>
          <a:p>
            <a:r>
              <a:rPr lang="en-IN" dirty="0"/>
              <a:t>3. Resolved alerts.</a:t>
            </a:r>
          </a:p>
          <a:p>
            <a:r>
              <a:rPr lang="en-IN" dirty="0"/>
              <a:t>4. Top failing applications.</a:t>
            </a:r>
          </a:p>
          <a:p>
            <a:r>
              <a:rPr lang="en-IN" dirty="0"/>
              <a:t>5. Top resources generating errors.</a:t>
            </a:r>
          </a:p>
          <a:p>
            <a:r>
              <a:rPr lang="en-IN" dirty="0"/>
              <a:t>6. Recent production changes.</a:t>
            </a:r>
          </a:p>
          <a:p>
            <a:r>
              <a:rPr lang="en-IN" dirty="0"/>
              <a:t>7. Data ingestion volume.</a:t>
            </a:r>
          </a:p>
          <a:p>
            <a:r>
              <a:rPr lang="en-IN" dirty="0"/>
              <a:t>8. Monitoring pipeline health.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35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6368-A4ED-4B28-9B75-2E1D348B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Alerts required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210BC3-BFB3-C35D-E9F4-8655DF3CE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345780"/>
              </p:ext>
            </p:extLst>
          </p:nvPr>
        </p:nvGraphicFramePr>
        <p:xfrm>
          <a:off x="994544" y="1540415"/>
          <a:ext cx="7148625" cy="4351338"/>
        </p:xfrm>
        <a:graphic>
          <a:graphicData uri="http://schemas.openxmlformats.org/drawingml/2006/table">
            <a:tbl>
              <a:tblPr/>
              <a:tblGrid>
                <a:gridCol w="2382875">
                  <a:extLst>
                    <a:ext uri="{9D8B030D-6E8A-4147-A177-3AD203B41FA5}">
                      <a16:colId xmlns:a16="http://schemas.microsoft.com/office/drawing/2014/main" val="3870522222"/>
                    </a:ext>
                  </a:extLst>
                </a:gridCol>
                <a:gridCol w="2382875">
                  <a:extLst>
                    <a:ext uri="{9D8B030D-6E8A-4147-A177-3AD203B41FA5}">
                      <a16:colId xmlns:a16="http://schemas.microsoft.com/office/drawing/2014/main" val="3303972189"/>
                    </a:ext>
                  </a:extLst>
                </a:gridCol>
                <a:gridCol w="2382875">
                  <a:extLst>
                    <a:ext uri="{9D8B030D-6E8A-4147-A177-3AD203B41FA5}">
                      <a16:colId xmlns:a16="http://schemas.microsoft.com/office/drawing/2014/main" val="499969006"/>
                    </a:ext>
                  </a:extLst>
                </a:gridCol>
              </a:tblGrid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rgbClr val="0D0D0D"/>
                          </a:solidFill>
                          <a:effectLst/>
                        </a:rPr>
                        <a:t>Alert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rgbClr val="0D0D0D"/>
                          </a:solidFill>
                          <a:effectLst/>
                        </a:rPr>
                        <a:t>Condition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rgbClr val="0D0D0D"/>
                          </a:solidFill>
                          <a:effectLst/>
                        </a:rPr>
                        <a:t>Suggested severity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8798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Web App availability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HTTP 5xx error rate above 5% for 5 minutes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173481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Web App performance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P95 response time above 3 seconds for 10 minutes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6112"/>
                  </a:ext>
                </a:extLst>
              </a:tr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Function App failures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Failure rate above 10%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52347"/>
                  </a:ext>
                </a:extLst>
              </a:tr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Azure SQL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CPU above 85% for 10 minutes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6341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Connections approaching configured limit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384217"/>
                  </a:ext>
                </a:extLst>
              </a:tr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Cosmos DB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Sustained 429 throttling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20006"/>
                  </a:ext>
                </a:extLst>
              </a:tr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Application Gateway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Unhealthy backend instances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41055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WAF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Sudden increase in blocked requests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4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71915"/>
                  </a:ext>
                </a:extLst>
              </a:tr>
              <a:tr h="2693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Event Hubs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Incoming requests throttled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Warning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63075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Service Bus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Dead-letter messages above agreed threshold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847312"/>
                  </a:ext>
                </a:extLst>
              </a:tr>
              <a:tr h="45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Storage Account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rgbClr val="0D0D0D"/>
                          </a:solidFill>
                          <a:effectLst/>
                        </a:rPr>
                        <a:t>Availability below agreed SLA threshold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rgbClr val="0D0D0D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62162" marR="62162" marT="41441" marB="41441">
                    <a:lnL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5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403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F104FE2-3A18-3537-E071-B87904305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0810" y="963623"/>
            <a:ext cx="10756769" cy="380104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Sample KQL queries</a:t>
            </a:r>
            <a:b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</a:b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1. Application exceptions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Kusto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AppExceptions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where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&gt; ago(24h) | summarize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ExceptionCount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= count() by bin(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, 1h),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AppRoleName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render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timechart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2. Failed application requests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Kusto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AppRequests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where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&gt; ago(24h) | where Success == false | summarize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FailedRequests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= count() by bin(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, 1h),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AppRoleName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render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timechart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3. Application response time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Kusto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AppRequests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where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&gt; ago(24h) | summarize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AverageDuration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= avg(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DurationMs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), P95Duration = percentile(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DurationMs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, 95) by bin(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, 1h) | render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timechart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4. Azure resource errors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Kusto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AzureDiagnostics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where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TimeGenerated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&gt; ago(24h) | summarize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TotalErrors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= count() by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ResourceProvider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, Category | order by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TotalErrors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desc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5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12C7EBB-5B3F-69A6-969D-6B1CABD7D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84955" y="1051379"/>
            <a:ext cx="7649530" cy="313932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Sample SPL queries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1. Application errors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Spl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index=azure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sourcetype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=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azure:monitor:resource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search Level=Error OR level=Error | stats count by Resource, Category | sort – count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2. Failed requests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Spl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index=azure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sourcetype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=* | search status=500 OR status=502 OR status=503 |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timechart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span=1h count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3. Resource-level error monitoring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  <a:t>Spl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D5D5D"/>
                </a:solidFill>
                <a:effectLst/>
                <a:latin typeface="-apple-system-body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index=azure | stats count by host,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sourcetype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Arial Unicode MS"/>
              </a:rPr>
              <a:t> | sort - count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90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2989</Words>
  <Application>Microsoft Office PowerPoint</Application>
  <PresentationFormat>Widescreen</PresentationFormat>
  <Paragraphs>500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-apple-system-body</vt:lpstr>
      <vt:lpstr>Arial</vt:lpstr>
      <vt:lpstr>Arial Unicode MS</vt:lpstr>
      <vt:lpstr>Calibri</vt:lpstr>
      <vt:lpstr>Calibri Light</vt:lpstr>
      <vt:lpstr>Office Theme</vt:lpstr>
      <vt:lpstr>Azure Application Monitoring Strategy </vt:lpstr>
      <vt:lpstr>PowerPoint Presentation</vt:lpstr>
      <vt:lpstr>Why do we need monitoring? </vt:lpstr>
      <vt:lpstr>Monitoring, logs, metrics, traces and observability  </vt:lpstr>
      <vt:lpstr>Azure monitoring services: What do we actually need? </vt:lpstr>
      <vt:lpstr>Which Azure resources we monitor </vt:lpstr>
      <vt:lpstr>What telemetry should we collect? </vt:lpstr>
      <vt:lpstr>How Azure monitoring works </vt:lpstr>
      <vt:lpstr>What is LAW and why do we need it? </vt:lpstr>
      <vt:lpstr>What is Splunk? </vt:lpstr>
      <vt:lpstr>LAW vs Splunk – technical comparison </vt:lpstr>
      <vt:lpstr>LAW – Pros and Cons </vt:lpstr>
      <vt:lpstr>Splunk – Pros and Cons  </vt:lpstr>
      <vt:lpstr>Diagnostic Settings: Why are they required? </vt:lpstr>
      <vt:lpstr>Example: Application Gateway </vt:lpstr>
      <vt:lpstr>Can we send the same logs to both LAW and Splunk? </vt:lpstr>
      <vt:lpstr>What if we stream all diagnostic logs to LAW? </vt:lpstr>
      <vt:lpstr>How monitoring helps in troubleshooting and tracing </vt:lpstr>
      <vt:lpstr>How we investigates </vt:lpstr>
      <vt:lpstr>PowerPoint Presentation</vt:lpstr>
      <vt:lpstr>Should we use LAW, Splunk or both?  Recommend to Use Hybrid – Both LAW and Splunk  Use Azure-native monitoring for application troubleshooting and resource health. Send selected operational and enterprise-relevant logs to Splunk.  Advantages:  Native Azure troubleshooting. Existing Splunk investment is utilised. Enterprise-wide monitoring remains centralised. Critical alerts can be configured in Azure. Splunk can correlate Azure events with non-Azure environments.  Disadvantages:  Additional ingestion and retention cost if the same data is stored in both systems. More than one dashboard to maintain. Requires clear ownership and data collection standards. </vt:lpstr>
      <vt:lpstr>Recommended Approach</vt:lpstr>
      <vt:lpstr>Practical Monitoring Model</vt:lpstr>
      <vt:lpstr>Questions</vt:lpstr>
      <vt:lpstr>References</vt:lpstr>
      <vt:lpstr>Which dashboards should we create for daily monitoring? </vt:lpstr>
      <vt:lpstr>Dashboard 2 – Infrastructure Health .  </vt:lpstr>
      <vt:lpstr>Sample Alerts required</vt:lpstr>
      <vt:lpstr>Sample KQL queries  1. Application exceptions Kusto  AppExceptions | where TimeGenerated &gt; ago(24h) | summarize ExceptionCount = count() by bin(TimeGenerated, 1h), AppRoleName | render timechart  2. Failed application requests Kusto  AppRequests | where TimeGenerated &gt; ago(24h) | where Success == false | summarize FailedRequests = count() by bin(TimeGenerated, 1h), AppRoleName | render timechart   3. Application response time Kusto  AppRequests | where TimeGenerated &gt; ago(24h) | summarize AverageDuration = avg(DurationMs), P95Duration = percentile(DurationMs, 95) by bin(TimeGenerated, 1h) | render timechart   4. Azure resource errors Kusto  AzureDiagnostics | where TimeGenerated &gt; ago(24h) | summarize TotalErrors = count() by ResourceProvider, Category | order by TotalErrors desc</vt:lpstr>
      <vt:lpstr>Sample SPL queries  1. Application errors Spl  index=azure sourcetype=azure:monitor:resource | search Level=Error OR level=Error | stats count by Resource, Category | sort – count   2. Failed requests Spl  index=azure sourcetype=* | search status=500 OR status=502 OR status=503 | timechart span=1h count   3. Resource-level error monitoring Spl  index=azure | stats count by host, sourcetype | sort - 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Vamsee Kumar</dc:creator>
  <cp:lastModifiedBy>Vamsee Kumar</cp:lastModifiedBy>
  <cp:revision>1</cp:revision>
  <dcterms:created xsi:type="dcterms:W3CDTF">2026-11-01T11:41:46Z</dcterms:created>
  <dcterms:modified xsi:type="dcterms:W3CDTF">2026-11-01T16:11:32Z</dcterms:modified>
</cp:coreProperties>
</file>